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ce731b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ce731b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2ce731bd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2ce731bd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2ce731bd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2ce731bd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2ce731bd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2ce731bd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DevDocs Structures and Workflows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A</a:t>
            </a:r>
            <a:r>
              <a:rPr lang="en" sz="5200">
                <a:solidFill>
                  <a:schemeClr val="dk1"/>
                </a:solidFill>
              </a:rPr>
              <a:t>s of 01 May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171000" y="3962200"/>
            <a:ext cx="8802000" cy="1076400"/>
            <a:chOff x="171000" y="3962200"/>
            <a:chExt cx="8802000" cy="1076400"/>
          </a:xfrm>
        </p:grpSpPr>
        <p:sp>
          <p:nvSpPr>
            <p:cNvPr id="61" name="Google Shape;61;p14"/>
            <p:cNvSpPr/>
            <p:nvPr/>
          </p:nvSpPr>
          <p:spPr>
            <a:xfrm>
              <a:off x="171000" y="3962200"/>
              <a:ext cx="8802000" cy="1076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File Types</a:t>
              </a:r>
              <a:endParaRPr b="1" sz="1200"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4770000" y="4094175"/>
              <a:ext cx="1846200" cy="545100"/>
            </a:xfrm>
            <a:prstGeom prst="snip1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JSON (*.json)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Directory and Type structure</a:t>
              </a:r>
              <a:endParaRPr sz="1000"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527800" y="4094175"/>
              <a:ext cx="1846200" cy="545100"/>
            </a:xfrm>
            <a:prstGeom prst="snip1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YAML</a:t>
              </a:r>
              <a:r>
                <a:rPr lang="en" sz="1200"/>
                <a:t> (*.yaml,*.yml)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API Specification</a:t>
              </a:r>
              <a:endParaRPr sz="1000"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285600" y="4094175"/>
              <a:ext cx="1846200" cy="545100"/>
            </a:xfrm>
            <a:prstGeom prst="snip1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MDX</a:t>
              </a:r>
              <a:r>
                <a:rPr lang="en" sz="1200"/>
                <a:t> (*.md,*.mdx)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Guides and Explainers</a:t>
              </a:r>
              <a:endParaRPr sz="1000"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012200" y="4094175"/>
              <a:ext cx="1846200" cy="545100"/>
            </a:xfrm>
            <a:prstGeom prst="snip1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TS</a:t>
              </a:r>
              <a:r>
                <a:rPr lang="en" sz="1200"/>
                <a:t> (*.tsx, *.ts)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Design and Implementation</a:t>
              </a:r>
              <a:endParaRPr sz="1000"/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6865800" y="119900"/>
            <a:ext cx="2107200" cy="3317700"/>
            <a:chOff x="6865800" y="119900"/>
            <a:chExt cx="2107200" cy="3317700"/>
          </a:xfrm>
        </p:grpSpPr>
        <p:sp>
          <p:nvSpPr>
            <p:cNvPr id="67" name="Google Shape;67;p14"/>
            <p:cNvSpPr/>
            <p:nvPr/>
          </p:nvSpPr>
          <p:spPr>
            <a:xfrm>
              <a:off x="6865800" y="119900"/>
              <a:ext cx="2107200" cy="3317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Other Assets</a:t>
              </a:r>
              <a:endParaRPr b="1" sz="1200"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289250" y="528650"/>
              <a:ext cx="1260300" cy="545100"/>
            </a:xfrm>
            <a:prstGeom prst="snip1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Images</a:t>
              </a:r>
              <a:endParaRPr sz="1200"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89250" y="1950733"/>
              <a:ext cx="1260300" cy="545100"/>
            </a:xfrm>
            <a:prstGeom prst="snip1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Code Snippets</a:t>
              </a:r>
              <a:endParaRPr sz="1200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289250" y="1239692"/>
              <a:ext cx="1260300" cy="545100"/>
            </a:xfrm>
            <a:prstGeom prst="snip1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KB</a:t>
              </a:r>
              <a:endParaRPr sz="1200"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7289250" y="2661775"/>
              <a:ext cx="1260300" cy="545100"/>
            </a:xfrm>
            <a:prstGeom prst="snip1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APIs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BC-App Repos</a:t>
              </a:r>
              <a:endParaRPr sz="1000"/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1086900" y="2550833"/>
            <a:ext cx="4728000" cy="1076400"/>
            <a:chOff x="1888200" y="2361200"/>
            <a:chExt cx="4728000" cy="1076400"/>
          </a:xfrm>
        </p:grpSpPr>
        <p:sp>
          <p:nvSpPr>
            <p:cNvPr id="73" name="Google Shape;73;p14"/>
            <p:cNvSpPr/>
            <p:nvPr/>
          </p:nvSpPr>
          <p:spPr>
            <a:xfrm>
              <a:off x="1888200" y="2361200"/>
              <a:ext cx="4728000" cy="1076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Repositories</a:t>
              </a:r>
              <a:endParaRPr b="1" sz="1200"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002825" y="2828875"/>
              <a:ext cx="616500" cy="384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/docs</a:t>
              </a:r>
              <a:endParaRPr sz="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Content</a:t>
              </a:r>
              <a:endParaRPr sz="800"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228725" y="2828875"/>
              <a:ext cx="1431600" cy="3849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/developer-center</a:t>
              </a:r>
              <a:endParaRPr sz="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Style and Navigation</a:t>
              </a:r>
              <a:endParaRPr sz="800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772125" y="2828875"/>
              <a:ext cx="1303800" cy="3849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/api-specs-ssot</a:t>
              </a:r>
              <a:endParaRPr sz="8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Beta Documentation</a:t>
              </a:r>
              <a:endParaRPr sz="800"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813125" y="2828875"/>
              <a:ext cx="655200" cy="3849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others</a:t>
              </a:r>
              <a:endParaRPr sz="800"/>
            </a:p>
          </p:txBody>
        </p:sp>
      </p:grpSp>
      <p:cxnSp>
        <p:nvCxnSpPr>
          <p:cNvPr id="78" name="Google Shape;78;p14"/>
          <p:cNvCxnSpPr>
            <a:stCxn id="64" idx="3"/>
            <a:endCxn id="74" idx="2"/>
          </p:cNvCxnSpPr>
          <p:nvPr/>
        </p:nvCxnSpPr>
        <p:spPr>
          <a:xfrm rot="-5400000">
            <a:off x="1013850" y="3598125"/>
            <a:ext cx="690900" cy="3012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>
            <a:stCxn id="63" idx="3"/>
            <a:endCxn id="74" idx="2"/>
          </p:cNvCxnSpPr>
          <p:nvPr/>
        </p:nvCxnSpPr>
        <p:spPr>
          <a:xfrm flipH="1" rot="5400000">
            <a:off x="2134950" y="2778225"/>
            <a:ext cx="690900" cy="19410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>
            <a:stCxn id="64" idx="3"/>
            <a:endCxn id="76" idx="2"/>
          </p:cNvCxnSpPr>
          <p:nvPr/>
        </p:nvCxnSpPr>
        <p:spPr>
          <a:xfrm rot="-5400000">
            <a:off x="1570200" y="3041775"/>
            <a:ext cx="690900" cy="14139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>
            <a:stCxn id="64" idx="3"/>
            <a:endCxn id="75" idx="2"/>
          </p:cNvCxnSpPr>
          <p:nvPr/>
        </p:nvCxnSpPr>
        <p:spPr>
          <a:xfrm rot="-5400000">
            <a:off x="2330550" y="2281425"/>
            <a:ext cx="690900" cy="29346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4"/>
          <p:cNvCxnSpPr>
            <a:stCxn id="62" idx="3"/>
            <a:endCxn id="74" idx="2"/>
          </p:cNvCxnSpPr>
          <p:nvPr/>
        </p:nvCxnSpPr>
        <p:spPr>
          <a:xfrm flipH="1" rot="5400000">
            <a:off x="3256050" y="1657125"/>
            <a:ext cx="690900" cy="41832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65" idx="3"/>
            <a:endCxn id="75" idx="2"/>
          </p:cNvCxnSpPr>
          <p:nvPr/>
        </p:nvCxnSpPr>
        <p:spPr>
          <a:xfrm flipH="1" rot="5400000">
            <a:off x="5693850" y="1852725"/>
            <a:ext cx="690900" cy="37920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>
            <a:stCxn id="62" idx="3"/>
            <a:endCxn id="76" idx="2"/>
          </p:cNvCxnSpPr>
          <p:nvPr/>
        </p:nvCxnSpPr>
        <p:spPr>
          <a:xfrm flipH="1" rot="5400000">
            <a:off x="3812400" y="2213475"/>
            <a:ext cx="690900" cy="30705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4"/>
          <p:cNvCxnSpPr>
            <a:stCxn id="62" idx="3"/>
            <a:endCxn id="75" idx="2"/>
          </p:cNvCxnSpPr>
          <p:nvPr/>
        </p:nvCxnSpPr>
        <p:spPr>
          <a:xfrm flipH="1" rot="5400000">
            <a:off x="4572750" y="2973825"/>
            <a:ext cx="690900" cy="15498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>
            <a:stCxn id="63" idx="3"/>
            <a:endCxn id="76" idx="2"/>
          </p:cNvCxnSpPr>
          <p:nvPr/>
        </p:nvCxnSpPr>
        <p:spPr>
          <a:xfrm flipH="1" rot="5400000">
            <a:off x="2691300" y="3334575"/>
            <a:ext cx="690900" cy="8283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63" idx="3"/>
            <a:endCxn id="75" idx="2"/>
          </p:cNvCxnSpPr>
          <p:nvPr/>
        </p:nvCxnSpPr>
        <p:spPr>
          <a:xfrm rot="-5400000">
            <a:off x="3451650" y="3402525"/>
            <a:ext cx="690900" cy="692400"/>
          </a:xfrm>
          <a:prstGeom prst="curvedConnector3">
            <a:avLst>
              <a:gd fmla="val 49990" name="adj1"/>
            </a:avLst>
          </a:prstGeom>
          <a:noFill/>
          <a:ln cap="flat" cmpd="sng" w="9525">
            <a:solidFill>
              <a:srgbClr val="274E1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" name="Google Shape;88;p14"/>
          <p:cNvGrpSpPr/>
          <p:nvPr/>
        </p:nvGrpSpPr>
        <p:grpSpPr>
          <a:xfrm>
            <a:off x="170999" y="119897"/>
            <a:ext cx="3126937" cy="1941443"/>
            <a:chOff x="5163200" y="79075"/>
            <a:chExt cx="3862800" cy="2628900"/>
          </a:xfrm>
        </p:grpSpPr>
        <p:sp>
          <p:nvSpPr>
            <p:cNvPr id="89" name="Google Shape;89;p14"/>
            <p:cNvSpPr/>
            <p:nvPr/>
          </p:nvSpPr>
          <p:spPr>
            <a:xfrm>
              <a:off x="5163200" y="79075"/>
              <a:ext cx="3862800" cy="2628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5507275" y="2054100"/>
              <a:ext cx="1437600" cy="4632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Repositories</a:t>
              </a:r>
              <a:endParaRPr sz="1000"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507425" y="1359113"/>
              <a:ext cx="1437600" cy="4497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Build Tools</a:t>
              </a:r>
              <a:endParaRPr sz="1000"/>
            </a:p>
          </p:txBody>
        </p:sp>
        <p:cxnSp>
          <p:nvCxnSpPr>
            <p:cNvPr id="92" name="Google Shape;92;p14"/>
            <p:cNvCxnSpPr>
              <a:stCxn id="90" idx="0"/>
              <a:endCxn id="91" idx="2"/>
            </p:cNvCxnSpPr>
            <p:nvPr/>
          </p:nvCxnSpPr>
          <p:spPr>
            <a:xfrm rot="-5400000">
              <a:off x="6103675" y="1931100"/>
              <a:ext cx="245400" cy="600"/>
            </a:xfrm>
            <a:prstGeom prst="curvedConnector3">
              <a:avLst>
                <a:gd fmla="val 4997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93" name="Google Shape;93;p14"/>
            <p:cNvSpPr txBox="1"/>
            <p:nvPr/>
          </p:nvSpPr>
          <p:spPr>
            <a:xfrm>
              <a:off x="5163200" y="79075"/>
              <a:ext cx="38628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</a:rPr>
                <a:t>Build Cycle</a:t>
              </a:r>
              <a:endParaRPr b="1" sz="1200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5507125" y="664138"/>
              <a:ext cx="1437600" cy="4497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Public Docs</a:t>
              </a:r>
              <a:endParaRPr sz="1000"/>
            </a:p>
          </p:txBody>
        </p:sp>
        <p:cxnSp>
          <p:nvCxnSpPr>
            <p:cNvPr id="95" name="Google Shape;95;p14"/>
            <p:cNvCxnSpPr>
              <a:stCxn id="91" idx="0"/>
              <a:endCxn id="94" idx="2"/>
            </p:cNvCxnSpPr>
            <p:nvPr/>
          </p:nvCxnSpPr>
          <p:spPr>
            <a:xfrm rot="-5400000">
              <a:off x="6103825" y="1236113"/>
              <a:ext cx="245400" cy="600"/>
            </a:xfrm>
            <a:prstGeom prst="curvedConnector3">
              <a:avLst>
                <a:gd fmla="val 4997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96" name="Google Shape;96;p14"/>
            <p:cNvSpPr/>
            <p:nvPr/>
          </p:nvSpPr>
          <p:spPr>
            <a:xfrm>
              <a:off x="7308200" y="1359113"/>
              <a:ext cx="1437600" cy="4497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Feedback</a:t>
              </a:r>
              <a:endParaRPr sz="1000"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7308200" y="2060838"/>
              <a:ext cx="1437600" cy="4497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Platform Updates</a:t>
              </a:r>
              <a:endParaRPr sz="1000"/>
            </a:p>
          </p:txBody>
        </p:sp>
        <p:cxnSp>
          <p:nvCxnSpPr>
            <p:cNvPr id="98" name="Google Shape;98;p14"/>
            <p:cNvCxnSpPr>
              <a:stCxn id="96" idx="1"/>
              <a:endCxn id="90" idx="3"/>
            </p:cNvCxnSpPr>
            <p:nvPr/>
          </p:nvCxnSpPr>
          <p:spPr>
            <a:xfrm flipH="1">
              <a:off x="6944900" y="1583963"/>
              <a:ext cx="363300" cy="701700"/>
            </a:xfrm>
            <a:prstGeom prst="curvedConnector3">
              <a:avLst>
                <a:gd fmla="val 50003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99" name="Google Shape;99;p14"/>
            <p:cNvCxnSpPr>
              <a:stCxn id="97" idx="1"/>
              <a:endCxn id="90" idx="3"/>
            </p:cNvCxnSpPr>
            <p:nvPr/>
          </p:nvCxnSpPr>
          <p:spPr>
            <a:xfrm flipH="1">
              <a:off x="6944900" y="2285688"/>
              <a:ext cx="363300" cy="600"/>
            </a:xfrm>
            <a:prstGeom prst="curvedConnector3">
              <a:avLst>
                <a:gd fmla="val 50003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00" name="Google Shape;100;p14"/>
            <p:cNvCxnSpPr>
              <a:endCxn id="96" idx="0"/>
            </p:cNvCxnSpPr>
            <p:nvPr/>
          </p:nvCxnSpPr>
          <p:spPr>
            <a:xfrm>
              <a:off x="6944600" y="889013"/>
              <a:ext cx="1082400" cy="4701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stealth"/>
            </a:ln>
          </p:spPr>
        </p:cxnSp>
      </p:grpSp>
      <p:sp>
        <p:nvSpPr>
          <p:cNvPr id="101" name="Google Shape;101;p14"/>
          <p:cNvSpPr/>
          <p:nvPr/>
        </p:nvSpPr>
        <p:spPr>
          <a:xfrm>
            <a:off x="4281443" y="1335367"/>
            <a:ext cx="1600850" cy="8805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CircleCI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Build Rules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Linters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Playwright</a:t>
            </a:r>
            <a:endParaRPr sz="1200"/>
          </a:p>
        </p:txBody>
      </p:sp>
      <p:cxnSp>
        <p:nvCxnSpPr>
          <p:cNvPr id="102" name="Google Shape;102;p14"/>
          <p:cNvCxnSpPr>
            <a:stCxn id="73" idx="0"/>
            <a:endCxn id="101" idx="2"/>
          </p:cNvCxnSpPr>
          <p:nvPr/>
        </p:nvCxnSpPr>
        <p:spPr>
          <a:xfrm rot="-5400000">
            <a:off x="4098900" y="1567733"/>
            <a:ext cx="335100" cy="1631100"/>
          </a:xfrm>
          <a:prstGeom prst="curvedConnector3">
            <a:avLst>
              <a:gd fmla="val 499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4"/>
          <p:cNvCxnSpPr>
            <a:stCxn id="67" idx="1"/>
            <a:endCxn id="101" idx="3"/>
          </p:cNvCxnSpPr>
          <p:nvPr/>
        </p:nvCxnSpPr>
        <p:spPr>
          <a:xfrm rot="10800000">
            <a:off x="5882400" y="1775750"/>
            <a:ext cx="983400" cy="30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4"/>
          <p:cNvSpPr/>
          <p:nvPr/>
        </p:nvSpPr>
        <p:spPr>
          <a:xfrm>
            <a:off x="4053068" y="119900"/>
            <a:ext cx="2057600" cy="8805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Public Docs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developer.bc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catalyst.dev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developer.bc/beta</a:t>
            </a:r>
            <a:endParaRPr sz="1200"/>
          </a:p>
        </p:txBody>
      </p:sp>
      <p:cxnSp>
        <p:nvCxnSpPr>
          <p:cNvPr id="105" name="Google Shape;105;p14"/>
          <p:cNvCxnSpPr>
            <a:stCxn id="101" idx="0"/>
            <a:endCxn id="104" idx="2"/>
          </p:cNvCxnSpPr>
          <p:nvPr/>
        </p:nvCxnSpPr>
        <p:spPr>
          <a:xfrm rot="-5400000">
            <a:off x="4914618" y="1167517"/>
            <a:ext cx="335100" cy="600"/>
          </a:xfrm>
          <a:prstGeom prst="curvedConnector3">
            <a:avLst>
              <a:gd fmla="val 499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Center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591000" y="2333375"/>
            <a:ext cx="1346175" cy="877200"/>
          </a:xfrm>
          <a:prstGeom prst="flowChartPreparation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Next.js</a:t>
            </a:r>
            <a:endParaRPr sz="1600"/>
          </a:p>
        </p:txBody>
      </p:sp>
      <p:sp>
        <p:nvSpPr>
          <p:cNvPr id="112" name="Google Shape;112;p15"/>
          <p:cNvSpPr/>
          <p:nvPr/>
        </p:nvSpPr>
        <p:spPr>
          <a:xfrm>
            <a:off x="311700" y="1382200"/>
            <a:ext cx="2663725" cy="728950"/>
          </a:xfrm>
          <a:prstGeom prst="flowChartInputOutpu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/docs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11700" y="3630350"/>
            <a:ext cx="2663725" cy="728950"/>
          </a:xfrm>
          <a:prstGeom prst="flowChartInputOutpu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/api-specs-ssot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311700" y="2506275"/>
            <a:ext cx="2663725" cy="728950"/>
          </a:xfrm>
          <a:prstGeom prst="flowChartInputOutpu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/developer-center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[local files]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5" name="Google Shape;115;p15"/>
          <p:cNvCxnSpPr>
            <a:stCxn id="112" idx="5"/>
            <a:endCxn id="111" idx="1"/>
          </p:cNvCxnSpPr>
          <p:nvPr/>
        </p:nvCxnSpPr>
        <p:spPr>
          <a:xfrm>
            <a:off x="2709053" y="1746675"/>
            <a:ext cx="882000" cy="1025400"/>
          </a:xfrm>
          <a:prstGeom prst="curvedConnector3">
            <a:avLst>
              <a:gd fmla="val 650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>
            <a:stCxn id="114" idx="5"/>
            <a:endCxn id="111" idx="1"/>
          </p:cNvCxnSpPr>
          <p:nvPr/>
        </p:nvCxnSpPr>
        <p:spPr>
          <a:xfrm flipH="1" rot="10800000">
            <a:off x="2709053" y="2772050"/>
            <a:ext cx="882000" cy="98700"/>
          </a:xfrm>
          <a:prstGeom prst="curvedConnector3">
            <a:avLst>
              <a:gd fmla="val 650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5"/>
          <p:cNvCxnSpPr>
            <a:stCxn id="113" idx="5"/>
            <a:endCxn id="111" idx="1"/>
          </p:cNvCxnSpPr>
          <p:nvPr/>
        </p:nvCxnSpPr>
        <p:spPr>
          <a:xfrm flipH="1" rot="10800000">
            <a:off x="2709053" y="2772025"/>
            <a:ext cx="882000" cy="1222800"/>
          </a:xfrm>
          <a:prstGeom prst="curvedConnector3">
            <a:avLst>
              <a:gd fmla="val 650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5"/>
          <p:cNvSpPr/>
          <p:nvPr/>
        </p:nvSpPr>
        <p:spPr>
          <a:xfrm>
            <a:off x="3806913" y="3994825"/>
            <a:ext cx="2370775" cy="728950"/>
          </a:xfrm>
          <a:prstGeom prst="flowChartInputOutpu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 Buckets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806913" y="1017725"/>
            <a:ext cx="2370775" cy="728950"/>
          </a:xfrm>
          <a:prstGeom prst="flowChartInputOutpu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Github Files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118425" y="2160575"/>
            <a:ext cx="1713875" cy="1222800"/>
          </a:xfrm>
          <a:prstGeom prst="flowChartDisplay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Vercel </a:t>
            </a:r>
            <a:r>
              <a:rPr lang="en" sz="1200"/>
              <a:t>[Deployment]</a:t>
            </a:r>
            <a:endParaRPr sz="1200"/>
          </a:p>
        </p:txBody>
      </p:sp>
      <p:sp>
        <p:nvSpPr>
          <p:cNvPr id="121" name="Google Shape;121;p15"/>
          <p:cNvSpPr/>
          <p:nvPr/>
        </p:nvSpPr>
        <p:spPr>
          <a:xfrm>
            <a:off x="5552750" y="2342775"/>
            <a:ext cx="950100" cy="858400"/>
          </a:xfrm>
          <a:prstGeom prst="flowChartProcess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CircleCI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[Build]</a:t>
            </a:r>
            <a:endParaRPr sz="1200"/>
          </a:p>
        </p:txBody>
      </p:sp>
      <p:cxnSp>
        <p:nvCxnSpPr>
          <p:cNvPr id="122" name="Google Shape;122;p15"/>
          <p:cNvCxnSpPr>
            <a:stCxn id="111" idx="3"/>
            <a:endCxn id="121" idx="1"/>
          </p:cNvCxnSpPr>
          <p:nvPr/>
        </p:nvCxnSpPr>
        <p:spPr>
          <a:xfrm>
            <a:off x="4937175" y="2771975"/>
            <a:ext cx="6156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5"/>
          <p:cNvCxnSpPr>
            <a:stCxn id="118" idx="5"/>
            <a:endCxn id="120" idx="1"/>
          </p:cNvCxnSpPr>
          <p:nvPr/>
        </p:nvCxnSpPr>
        <p:spPr>
          <a:xfrm flipH="1" rot="10800000">
            <a:off x="5940610" y="2772000"/>
            <a:ext cx="1177800" cy="1587300"/>
          </a:xfrm>
          <a:prstGeom prst="curvedConnector3">
            <a:avLst>
              <a:gd fmla="val 6006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5"/>
          <p:cNvCxnSpPr>
            <a:stCxn id="121" idx="3"/>
            <a:endCxn id="120" idx="1"/>
          </p:cNvCxnSpPr>
          <p:nvPr/>
        </p:nvCxnSpPr>
        <p:spPr>
          <a:xfrm>
            <a:off x="6502850" y="2771975"/>
            <a:ext cx="6156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5"/>
          <p:cNvCxnSpPr>
            <a:stCxn id="119" idx="5"/>
            <a:endCxn id="120" idx="1"/>
          </p:cNvCxnSpPr>
          <p:nvPr/>
        </p:nvCxnSpPr>
        <p:spPr>
          <a:xfrm>
            <a:off x="5940610" y="1382200"/>
            <a:ext cx="1177800" cy="1389900"/>
          </a:xfrm>
          <a:prstGeom prst="curvedConnector3">
            <a:avLst>
              <a:gd fmla="val 6006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5"/>
          <p:cNvSpPr/>
          <p:nvPr/>
        </p:nvSpPr>
        <p:spPr>
          <a:xfrm>
            <a:off x="7118450" y="445025"/>
            <a:ext cx="1713900" cy="1222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highlight>
                  <a:srgbClr val="D9EAD3"/>
                </a:highlight>
              </a:rPr>
              <a:t>Full Access</a:t>
            </a:r>
            <a:endParaRPr sz="1300">
              <a:highlight>
                <a:srgbClr val="D9EAD3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highlight>
                  <a:srgbClr val="FFF2CC"/>
                </a:highlight>
              </a:rPr>
              <a:t>Partial Access</a:t>
            </a:r>
            <a:endParaRPr sz="1300">
              <a:highlight>
                <a:srgbClr val="FFF2CC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highlight>
                  <a:srgbClr val="F4CCCC"/>
                </a:highlight>
              </a:rPr>
              <a:t>No Access*</a:t>
            </a:r>
            <a:endParaRPr sz="1300">
              <a:highlight>
                <a:srgbClr val="F4CCCC"/>
              </a:highlight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370450" y="4083275"/>
            <a:ext cx="14619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725">
                <a:solidFill>
                  <a:schemeClr val="dk2"/>
                </a:solidFill>
              </a:rPr>
              <a:t>* </a:t>
            </a:r>
            <a:r>
              <a:rPr b="1" lang="en" sz="725">
                <a:solidFill>
                  <a:schemeClr val="dk2"/>
                </a:solidFill>
              </a:rPr>
              <a:t>Note:</a:t>
            </a:r>
            <a:r>
              <a:rPr lang="en" sz="725">
                <a:solidFill>
                  <a:schemeClr val="dk2"/>
                </a:solidFill>
              </a:rPr>
              <a:t> We can technically adjust the Next.js features we use, but not Next.js itself. The Key is representative of what we can manage directly.</a:t>
            </a:r>
            <a:endParaRPr sz="72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and Feedback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11700" y="1346175"/>
            <a:ext cx="1219450" cy="831125"/>
          </a:xfrm>
          <a:prstGeom prst="flowChartPunchedCard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Platform Updates</a:t>
            </a:r>
            <a:endParaRPr sz="1200"/>
          </a:p>
        </p:txBody>
      </p:sp>
      <p:sp>
        <p:nvSpPr>
          <p:cNvPr id="134" name="Google Shape;134;p16"/>
          <p:cNvSpPr/>
          <p:nvPr/>
        </p:nvSpPr>
        <p:spPr>
          <a:xfrm>
            <a:off x="311700" y="2593800"/>
            <a:ext cx="1219450" cy="831125"/>
          </a:xfrm>
          <a:prstGeom prst="flowChartPunchedCar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Github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Issues</a:t>
            </a:r>
            <a:endParaRPr sz="1200"/>
          </a:p>
        </p:txBody>
      </p:sp>
      <p:sp>
        <p:nvSpPr>
          <p:cNvPr id="135" name="Google Shape;135;p16"/>
          <p:cNvSpPr/>
          <p:nvPr/>
        </p:nvSpPr>
        <p:spPr>
          <a:xfrm>
            <a:off x="311700" y="3841425"/>
            <a:ext cx="1219450" cy="831125"/>
          </a:xfrm>
          <a:prstGeom prst="flowChartPunchedCar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Internal Feedback</a:t>
            </a:r>
            <a:endParaRPr sz="1200"/>
          </a:p>
        </p:txBody>
      </p:sp>
      <p:sp>
        <p:nvSpPr>
          <p:cNvPr id="136" name="Google Shape;136;p16"/>
          <p:cNvSpPr/>
          <p:nvPr/>
        </p:nvSpPr>
        <p:spPr>
          <a:xfrm>
            <a:off x="1959794" y="1346225"/>
            <a:ext cx="1219500" cy="831000"/>
          </a:xfrm>
          <a:prstGeom prst="flowChartAlternateProcess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GTM Process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607938" y="2177163"/>
            <a:ext cx="1927975" cy="1040375"/>
          </a:xfrm>
          <a:prstGeom prst="flowChartDecision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Discovery and Scoping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964556" y="1346200"/>
            <a:ext cx="1219500" cy="83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/developer-center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964556" y="2593850"/>
            <a:ext cx="1219500" cy="83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/docs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964556" y="3841500"/>
            <a:ext cx="1219500" cy="831000"/>
          </a:xfrm>
          <a:prstGeom prst="flowChartAlternateProcess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Discard</a:t>
            </a:r>
            <a:endParaRPr/>
          </a:p>
        </p:txBody>
      </p:sp>
      <p:cxnSp>
        <p:nvCxnSpPr>
          <p:cNvPr id="141" name="Google Shape;141;p16"/>
          <p:cNvCxnSpPr>
            <a:stCxn id="133" idx="3"/>
            <a:endCxn id="136" idx="1"/>
          </p:cNvCxnSpPr>
          <p:nvPr/>
        </p:nvCxnSpPr>
        <p:spPr>
          <a:xfrm>
            <a:off x="1531150" y="1761738"/>
            <a:ext cx="428700" cy="6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6"/>
          <p:cNvCxnSpPr>
            <a:stCxn id="136" idx="3"/>
            <a:endCxn id="137" idx="1"/>
          </p:cNvCxnSpPr>
          <p:nvPr/>
        </p:nvCxnSpPr>
        <p:spPr>
          <a:xfrm>
            <a:off x="3179294" y="1761725"/>
            <a:ext cx="428700" cy="935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6"/>
          <p:cNvCxnSpPr>
            <a:stCxn id="137" idx="3"/>
            <a:endCxn id="140" idx="1"/>
          </p:cNvCxnSpPr>
          <p:nvPr/>
        </p:nvCxnSpPr>
        <p:spPr>
          <a:xfrm>
            <a:off x="5535913" y="2697350"/>
            <a:ext cx="428700" cy="1559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>
            <a:stCxn id="137" idx="3"/>
            <a:endCxn id="139" idx="1"/>
          </p:cNvCxnSpPr>
          <p:nvPr/>
        </p:nvCxnSpPr>
        <p:spPr>
          <a:xfrm>
            <a:off x="5535913" y="2697350"/>
            <a:ext cx="428700" cy="3120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>
            <a:stCxn id="137" idx="3"/>
            <a:endCxn id="138" idx="1"/>
          </p:cNvCxnSpPr>
          <p:nvPr/>
        </p:nvCxnSpPr>
        <p:spPr>
          <a:xfrm flipH="1" rot="10800000">
            <a:off x="5535913" y="1761650"/>
            <a:ext cx="428700" cy="935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6" name="Google Shape;146;p16"/>
          <p:cNvSpPr/>
          <p:nvPr/>
        </p:nvSpPr>
        <p:spPr>
          <a:xfrm>
            <a:off x="7612700" y="1970000"/>
            <a:ext cx="1219500" cy="831000"/>
          </a:xfrm>
          <a:prstGeom prst="flowChartAlternateProcess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</a:t>
            </a:r>
            <a:endParaRPr/>
          </a:p>
        </p:txBody>
      </p:sp>
      <p:cxnSp>
        <p:nvCxnSpPr>
          <p:cNvPr id="147" name="Google Shape;147;p16"/>
          <p:cNvCxnSpPr>
            <a:stCxn id="138" idx="3"/>
            <a:endCxn id="146" idx="1"/>
          </p:cNvCxnSpPr>
          <p:nvPr/>
        </p:nvCxnSpPr>
        <p:spPr>
          <a:xfrm>
            <a:off x="7184056" y="1761700"/>
            <a:ext cx="428700" cy="623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6"/>
          <p:cNvCxnSpPr>
            <a:stCxn id="139" idx="3"/>
            <a:endCxn id="146" idx="1"/>
          </p:cNvCxnSpPr>
          <p:nvPr/>
        </p:nvCxnSpPr>
        <p:spPr>
          <a:xfrm flipH="1" rot="10800000">
            <a:off x="7184056" y="2385350"/>
            <a:ext cx="428700" cy="6240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6"/>
          <p:cNvSpPr/>
          <p:nvPr/>
        </p:nvSpPr>
        <p:spPr>
          <a:xfrm>
            <a:off x="1959794" y="3217700"/>
            <a:ext cx="1219500" cy="83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Ticket Creation</a:t>
            </a:r>
            <a:endParaRPr/>
          </a:p>
        </p:txBody>
      </p:sp>
      <p:cxnSp>
        <p:nvCxnSpPr>
          <p:cNvPr id="150" name="Google Shape;150;p16"/>
          <p:cNvCxnSpPr>
            <a:stCxn id="134" idx="3"/>
            <a:endCxn id="149" idx="1"/>
          </p:cNvCxnSpPr>
          <p:nvPr/>
        </p:nvCxnSpPr>
        <p:spPr>
          <a:xfrm>
            <a:off x="1531150" y="3009363"/>
            <a:ext cx="428700" cy="623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6"/>
          <p:cNvCxnSpPr>
            <a:stCxn id="135" idx="3"/>
            <a:endCxn id="149" idx="1"/>
          </p:cNvCxnSpPr>
          <p:nvPr/>
        </p:nvCxnSpPr>
        <p:spPr>
          <a:xfrm flipH="1" rot="10800000">
            <a:off x="1531150" y="3633288"/>
            <a:ext cx="428700" cy="623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6"/>
          <p:cNvCxnSpPr>
            <a:stCxn id="149" idx="3"/>
            <a:endCxn id="137" idx="1"/>
          </p:cNvCxnSpPr>
          <p:nvPr/>
        </p:nvCxnSpPr>
        <p:spPr>
          <a:xfrm flipH="1" rot="10800000">
            <a:off x="3179294" y="2697500"/>
            <a:ext cx="428700" cy="9357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Definitions, et c.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311700" y="1017725"/>
            <a:ext cx="3999900" cy="37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CircleCI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Build management and scheduling tool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Employs build and deployment workflows to generate public docs from repositories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Linter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 code process or set of rules to be applied in testing before, during, and after a build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Playwright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Testing </a:t>
            </a:r>
            <a:r>
              <a:rPr lang="en" sz="1000"/>
              <a:t>automation</a:t>
            </a:r>
            <a:r>
              <a:rPr lang="en" sz="1000"/>
              <a:t> tool for web applications, among other systems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Typescript. A flavour of javascript that adds syntax for strong typing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JSON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Javascript Object Notation. A subset of javascript designed for defining or schematising data structures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PR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Pull Request. A request to update a github repository.</a:t>
            </a:r>
            <a:endParaRPr sz="1000"/>
          </a:p>
        </p:txBody>
      </p:sp>
      <p:sp>
        <p:nvSpPr>
          <p:cNvPr id="159" name="Google Shape;159;p17"/>
          <p:cNvSpPr txBox="1"/>
          <p:nvPr>
            <p:ph idx="2" type="body"/>
          </p:nvPr>
        </p:nvSpPr>
        <p:spPr>
          <a:xfrm>
            <a:off x="4832400" y="1017775"/>
            <a:ext cx="3999900" cy="37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YAML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 markup language for data structures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Basis for Swagger documentation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MDX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An extension of Markdown that adds support for generalised XML and some specialised notation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Next.js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 React framework for design and implementation.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Provides extended functionality and useability.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Built with TS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React.js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 generalised design framework that focuses on seamless user-interface design.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Provides reusable and extensible components for rapid prototyping.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Commit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 github action of updating a specific file within a repository. Ideally part of a PR.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